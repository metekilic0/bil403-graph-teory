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tr-TR" sz="1300" b="0" i="0" u="none" strike="noStrike">
                <a:solidFill>
                  <a:srgbClr val="FFFFFF"/>
                </a:solidFill>
                <a:latin typeface="Arial"/>
              </a:rPr>
              <a:t>Kümelenme Katsayısı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Kümelenme Katsayısı</c:v>
                </c:pt>
              </c:strCache>
            </c:strRef>
          </c:tx>
          <c:spPr>
            <a:solidFill>
              <a:srgbClr val="D4A24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Gerçek Ağ</c:v>
                </c:pt>
                <c:pt idx="1">
                  <c:v>Rastgele Ağ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0.75680000000000003</c:v>
                </c:pt>
                <c:pt idx="1">
                  <c:v>4.1300000000000003E-2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46-45A6-8884-899DA2E434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9D9E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9D9E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41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4141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tr-TR" sz="1300" b="0" i="0" u="none" strike="noStrike">
                <a:solidFill>
                  <a:srgbClr val="FFFFFF"/>
                </a:solidFill>
                <a:latin typeface="Arial"/>
              </a:rPr>
              <a:t>Ortalama Yol Uzunluğu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Ort. Yol Uzunluğu</c:v>
                </c:pt>
              </c:strCache>
            </c:strRef>
          </c:tx>
          <c:spPr>
            <a:solidFill>
              <a:srgbClr val="2E3B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Gerçek Ağ</c:v>
                </c:pt>
                <c:pt idx="1">
                  <c:v>Rastgele Ağ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4.93</c:v>
                </c:pt>
                <c:pt idx="1">
                  <c:v>2.62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11-4746-B8AE-04F217FDE5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9D9E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9D9E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41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4141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566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NOTU: Bu slaytta ekran paylaşımına geç ve proje klasörünü (VS Code veya dosya gezgini) göster.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NOTU: Terminale geç, komutu çalıştır, çıktının (düğüm/kenar sayısı) ekranda akmasını göster.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NOTU: pytest komutunu çalıştır, tüm testlerin PASSED geçtiğini göster. Ardından Jupyter notebook'u aç ve bir-iki hücreyi çalıştır.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418320" y="914400"/>
            <a:ext cx="1188720" cy="274320"/>
          </a:xfrm>
          <a:prstGeom prst="line">
            <a:avLst/>
          </a:prstGeom>
          <a:noFill/>
          <a:ln w="15875">
            <a:solidFill>
              <a:srgbClr val="2E3B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9418320" y="1188720"/>
            <a:ext cx="822960" cy="1005840"/>
          </a:xfrm>
          <a:prstGeom prst="line">
            <a:avLst/>
          </a:prstGeom>
          <a:noFill/>
          <a:ln w="15875">
            <a:solidFill>
              <a:srgbClr val="2E3B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10607040" y="914400"/>
            <a:ext cx="731520" cy="822960"/>
          </a:xfrm>
          <a:prstGeom prst="line">
            <a:avLst/>
          </a:prstGeom>
          <a:noFill/>
          <a:ln w="15875">
            <a:solidFill>
              <a:srgbClr val="2E3B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0241280" y="1737360"/>
            <a:ext cx="1097280" cy="457200"/>
          </a:xfrm>
          <a:prstGeom prst="line">
            <a:avLst/>
          </a:prstGeom>
          <a:noFill/>
          <a:ln w="15875">
            <a:solidFill>
              <a:srgbClr val="2E3B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9144000" y="2194560"/>
            <a:ext cx="1097280" cy="182880"/>
          </a:xfrm>
          <a:prstGeom prst="line">
            <a:avLst/>
          </a:prstGeom>
          <a:noFill/>
          <a:ln w="15875">
            <a:solidFill>
              <a:srgbClr val="2E3B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11338560" y="1737360"/>
            <a:ext cx="182880" cy="1280160"/>
          </a:xfrm>
          <a:prstGeom prst="line">
            <a:avLst/>
          </a:prstGeom>
          <a:noFill/>
          <a:ln w="15875">
            <a:solidFill>
              <a:srgbClr val="2E3B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0058400" y="2194560"/>
            <a:ext cx="182880" cy="1188720"/>
          </a:xfrm>
          <a:prstGeom prst="line">
            <a:avLst/>
          </a:prstGeom>
          <a:noFill/>
          <a:ln w="15875">
            <a:solidFill>
              <a:srgbClr val="2E3B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8869680" y="2377440"/>
            <a:ext cx="274320" cy="1188720"/>
          </a:xfrm>
          <a:prstGeom prst="line">
            <a:avLst/>
          </a:prstGeom>
          <a:noFill/>
          <a:ln w="15875">
            <a:solidFill>
              <a:srgbClr val="2E3B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11064240" y="3017520"/>
            <a:ext cx="457200" cy="1280160"/>
          </a:xfrm>
          <a:prstGeom prst="line">
            <a:avLst/>
          </a:prstGeom>
          <a:noFill/>
          <a:ln w="15875">
            <a:solidFill>
              <a:srgbClr val="2E3B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10058400" y="3383280"/>
            <a:ext cx="1005840" cy="914400"/>
          </a:xfrm>
          <a:prstGeom prst="line">
            <a:avLst/>
          </a:prstGeom>
          <a:noFill/>
          <a:ln w="15875">
            <a:solidFill>
              <a:srgbClr val="2E3B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9601200" y="3383280"/>
            <a:ext cx="457200" cy="1188720"/>
          </a:xfrm>
          <a:prstGeom prst="line">
            <a:avLst/>
          </a:prstGeom>
          <a:noFill/>
          <a:ln w="15875">
            <a:solidFill>
              <a:srgbClr val="2E3B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8869680" y="3566160"/>
            <a:ext cx="731520" cy="1005840"/>
          </a:xfrm>
          <a:prstGeom prst="line">
            <a:avLst/>
          </a:prstGeom>
          <a:noFill/>
          <a:ln w="15875">
            <a:solidFill>
              <a:srgbClr val="2E3B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9354312" y="1124712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10543032" y="850392"/>
            <a:ext cx="128016" cy="128016"/>
          </a:xfrm>
          <a:prstGeom prst="ellipse">
            <a:avLst/>
          </a:prstGeom>
          <a:solidFill>
            <a:srgbClr val="4A55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11274552" y="1673352"/>
            <a:ext cx="128016" cy="128016"/>
          </a:xfrm>
          <a:prstGeom prst="ellipse">
            <a:avLst/>
          </a:prstGeom>
          <a:solidFill>
            <a:srgbClr val="4A55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10177272" y="2130552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9079992" y="2313432"/>
            <a:ext cx="128016" cy="128016"/>
          </a:xfrm>
          <a:prstGeom prst="ellipse">
            <a:avLst/>
          </a:prstGeom>
          <a:solidFill>
            <a:srgbClr val="4A55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11457432" y="2953512"/>
            <a:ext cx="128016" cy="128016"/>
          </a:xfrm>
          <a:prstGeom prst="ellipse">
            <a:avLst/>
          </a:prstGeom>
          <a:solidFill>
            <a:srgbClr val="4A55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9994392" y="3319272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8805672" y="3502152"/>
            <a:ext cx="128016" cy="128016"/>
          </a:xfrm>
          <a:prstGeom prst="ellipse">
            <a:avLst/>
          </a:prstGeom>
          <a:solidFill>
            <a:srgbClr val="4A55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11000232" y="4233672"/>
            <a:ext cx="128016" cy="128016"/>
          </a:xfrm>
          <a:prstGeom prst="ellipse">
            <a:avLst/>
          </a:prstGeom>
          <a:solidFill>
            <a:srgbClr val="4A55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9537192" y="4507992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640080" y="219456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Film Oyuncu İşbirliği Ağının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 Teorisi ile Analizi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BİL 403 — </a:t>
            </a:r>
            <a:r>
              <a:rPr lang="tr-TR" sz="2000" i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Ağlar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008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 Kılıç   ·   231401028   ·   2025–2026 Yaz Dönemi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D4A24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8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Kaynağı: IMDb Non-Commercial Datasets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51560" y="146304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title.basics — film kimliği, türü, adı, yapım yılı, tür etiketleri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title.principals — bir filmde rol alan oyuncuların kimlikleri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name.basics — oyuncu kimliklerinin gerçek isimlerle eşlemesi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title.ratings — popülerlik göstergesi olarak toplam oy sayısı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0" y="141732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589520" y="152704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58952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589520" y="301752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7589520" y="312724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6.482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589520" y="3886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Oyuncu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89520" y="461772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7589520" y="472744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27.359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589520" y="5486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Oyuncu İşbirliği Ağı — Graf Teorisi Projesi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D4A24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8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Yöntem: Bipartite Graftan Projeksiyona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51560" y="1417320"/>
            <a:ext cx="5212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Önce iki farklı düğüm tipi olan bir bipartite graf kurulur: Oyuncular + Filmler</a:t>
            </a:r>
            <a:endParaRPr lang="en-US" sz="15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Bu graf oyuncu-oyuncu ağına projekte edilir: iki oyuncu aynı filmde oynadıysa aralarında kenar oluşur</a:t>
            </a:r>
            <a:endParaRPr lang="en-US" sz="15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Kenar ağırlığı = birlikte oynanan film sayısı</a:t>
            </a:r>
            <a:endParaRPr lang="en-US" sz="15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Doğrudan yöntemle üretilen ağ ile projeksiyon sonucu birebir aynı çıktı — yöntem tutarlılığı doğrulandı</a:t>
            </a:r>
            <a:endParaRPr lang="en-US" sz="1550" dirty="0"/>
          </a:p>
        </p:txBody>
      </p:sp>
      <p:pic>
        <p:nvPicPr>
          <p:cNvPr id="6" name="Image 0" descr="/mnt/user-data/uploads/bipartite_s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371600"/>
            <a:ext cx="5120640" cy="40965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Oyuncu İşbirliği Ağı — Graf Teorisi Projesi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D4A24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8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 Yapısı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51560" y="1463040"/>
            <a:ext cx="292608" cy="292608"/>
          </a:xfrm>
          <a:prstGeom prst="ellipse">
            <a:avLst/>
          </a:prstGeom>
          <a:solidFill>
            <a:srgbClr val="2E3B5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051560" y="1463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41732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build_graph.py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41732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okuma, filtreleme, ağ kurulumu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51560" y="2212848"/>
            <a:ext cx="292608" cy="292608"/>
          </a:xfrm>
          <a:prstGeom prst="ellipse">
            <a:avLst/>
          </a:prstGeom>
          <a:solidFill>
            <a:srgbClr val="2E3B5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051560" y="2212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216712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graph_utils.py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2167128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edilebilir saf graf metrik fonksiyonları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1560" y="2962656"/>
            <a:ext cx="292608" cy="292608"/>
          </a:xfrm>
          <a:prstGeom prst="ellipse">
            <a:avLst/>
          </a:prstGeom>
          <a:solidFill>
            <a:srgbClr val="2E3B5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1051560" y="29626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291693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analyze.py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2916936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Merkezilik ve topluluk analizi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51560" y="3712464"/>
            <a:ext cx="292608" cy="292608"/>
          </a:xfrm>
          <a:prstGeom prst="ellipse">
            <a:avLst/>
          </a:prstGeom>
          <a:solidFill>
            <a:srgbClr val="2E3B5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1051560" y="37124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08760" y="366674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advanced_analysis.py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3666744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Dayanıklılık, ego ağı, link prediction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051560" y="4462272"/>
            <a:ext cx="292608" cy="292608"/>
          </a:xfrm>
          <a:prstGeom prst="ellipse">
            <a:avLst/>
          </a:prstGeom>
          <a:solidFill>
            <a:srgbClr val="2E3B5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1051560" y="4462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08760" y="441655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structural_analysis.py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0" y="4416552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Küçük-dünya, klik, k-core analizleri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51560" y="5212080"/>
            <a:ext cx="292608" cy="292608"/>
          </a:xfrm>
          <a:prstGeom prst="ellipse">
            <a:avLst/>
          </a:prstGeom>
          <a:solidFill>
            <a:srgbClr val="2E3B5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1051560" y="5212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08760" y="516636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compare_genres.py / bipartite_analysis.py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0" y="516636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 karşılaştırması ve bipartite doğrulama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051560" y="5989320"/>
            <a:ext cx="10058400" cy="502920"/>
          </a:xfrm>
          <a:prstGeom prst="roundRect">
            <a:avLst>
              <a:gd name="adj" fmla="val 10909"/>
            </a:avLst>
          </a:prstGeom>
          <a:solidFill>
            <a:srgbClr val="F1E3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1234440" y="598932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5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tests/ klasöründe 45 birim ve entegrasyon testi  ·  BIL403_donem_projesi.ipynb notebook'u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Oyuncu İşbirliği Ağı — Graf Teorisi Projesi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D4A24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8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Ağın Kurulması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51560" y="1463040"/>
            <a:ext cx="10058400" cy="1005840"/>
          </a:xfrm>
          <a:prstGeom prst="roundRect">
            <a:avLst>
              <a:gd name="adj" fmla="val 7273"/>
            </a:avLst>
          </a:prstGeom>
          <a:solidFill>
            <a:srgbClr val="1414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325880" y="146304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build_graph.py --genre "Thriller" --min-year 2005 --max-year 2024 --max-movies 800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834640"/>
            <a:ext cx="9875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verisinden Thriller filmleri filtrelenir (2005-2024)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film seçilir, oyuncu kadroları okunur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Oyuncu-oyuncu ağı kurulur: 6.482 düğüm, 27.359 kenar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output/actor_graph.graphml dosyasına kaydedilir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Oyuncu İşbirliği Ağı — Graf Teorisi Projesi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D4A24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8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Merkezilik Analizi: Kim Daha "Önemli"?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5156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Beş farklı ölçüt, beş farklı "önemlilik" tanımı sunar: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1737360"/>
          <a:ext cx="10058400" cy="19202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Oyuncu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Derece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Arasındalık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Özvektör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PageRank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Alencier Ley Lopez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Joju George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Jagapathi Babu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Manju Warrier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51560" y="3931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Jagapathi Babu en yüksek arasındalık/yakınlık merkeziliğine sahip: en çok bağlantı değil, ağın en "stratejik" köprüsü.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Oyuncu İşbirliği Ağı — Graf Teorisi Projesi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D4A24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8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Topluluk Tespiti: Louvain Algoritması</a:t>
            </a:r>
            <a:endParaRPr lang="en-US" sz="3000" dirty="0"/>
          </a:p>
        </p:txBody>
      </p:sp>
      <p:pic>
        <p:nvPicPr>
          <p:cNvPr id="5" name="Image 0" descr="/mnt/user-data/uploads/commun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71600"/>
            <a:ext cx="6035040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92024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7315200" y="20116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38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315200" y="2834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Topluluk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0" y="365760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7315200" y="37490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38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0,803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7315200" y="4572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0" y="53949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 üzeri modularity "anlamlı topluluk yapısı" sayılır — 0,</a:t>
            </a:r>
            <a:r>
              <a:rPr lang="tr-TR" sz="1300" i="1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803</a:t>
            </a:r>
            <a:r>
              <a:rPr lang="en-US" sz="13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çok güçlü bir ayrışmaya işaret eder.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Oyuncu İşbirliği Ağı — Graf Teorisi Projesi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D4A24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8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Küçük-Dünya (Small-World) Testi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= 9,74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&gt; 1  →  ağ güçlü bir küçük-dünya yapısına sahip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ağın kümelenmesi (0,757), rastgele ağlardan (0,041) çok daha yüksek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yol uzunluğu (4,93) rastgele ağa (2,62) yakın kalıyor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Watts &amp; Strogatz'ın (1998) film-oyuncu ağında bulduğu örüntüyle örtüşüyor</a:t>
            </a:r>
            <a:endParaRPr lang="en-US" sz="14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92240" y="1554480"/>
          <a:ext cx="484632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6492240" y="3931920"/>
          <a:ext cx="484632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Oyuncu İşbirliği Ağı — Graf Teorisi Projesi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D4A24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8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Ağ Dayanıklılığı: Saldırı ve Arıza Senaryoları</a:t>
            </a:r>
            <a:endParaRPr lang="en-US" sz="3000" dirty="0"/>
          </a:p>
        </p:txBody>
      </p:sp>
      <p:pic>
        <p:nvPicPr>
          <p:cNvPr id="5" name="Image 0" descr="/mnt/user-data/uploads/robustness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1732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1000" y="182880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merkezi oyuncular çıkarılınca ağ hızla parçalanıyor (226 → ~20 kişi)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çıkarmada düşüş çok daha yavaş (~160 kişi kalıyor)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sosyal ağlarda tipik olan "hedefli saldırıya kırılgan, rastgele arızaya dayanıklı" örüntüsü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Oyuncu İşbirliği Ağı — Graf Teorisi Projesi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D4A24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tr-TR" sz="18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Klik ve K-Core Analizi</a:t>
            </a:r>
            <a:endParaRPr lang="en-US" sz="3000" dirty="0"/>
          </a:p>
        </p:txBody>
      </p:sp>
      <p:pic>
        <p:nvPicPr>
          <p:cNvPr id="5" name="Image 0" descr="/mnt/user-data/uploads/k_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400800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18288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7406640" y="18745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406640" y="28346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Maksimal Klik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 büyüğü 10 kişi)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06640" y="39319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7406640" y="39776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7406640" y="49377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Maks. K-Core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(190 kişilik ana çekirdek)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Oyuncu İşbirliği Ağı — Graf Teorisi Projesi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D4A24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tr-TR" sz="18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Tür Karşılaştırması: Thriller vs Comedy vs Horror</a:t>
            </a:r>
            <a:endParaRPr lang="en-US" sz="3000" dirty="0"/>
          </a:p>
        </p:txBody>
      </p:sp>
      <p:pic>
        <p:nvPicPr>
          <p:cNvPr id="5" name="Image 0" descr="/mnt/user-data/uploads/genr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371600"/>
            <a:ext cx="6675120" cy="5010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743200"/>
            <a:ext cx="2057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 filmlerinin kümelenme katsayısı (0,47), Thriller (0,96) ve Horror'dan (0,97) belirgin şekilde düşük — komedi kadroları daha "gevşek" bağlı.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Oyuncu İşbirliği Ağı — Graf Teorisi Projesi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D4A24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tr-TR" sz="18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Doğrulama: Testler ve Notebook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51560" y="1463040"/>
            <a:ext cx="10058400" cy="822960"/>
          </a:xfrm>
          <a:prstGeom prst="roundRect">
            <a:avLst>
              <a:gd name="adj" fmla="val 8889"/>
            </a:avLst>
          </a:prstGeom>
          <a:solidFill>
            <a:srgbClr val="1414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325880" y="1463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pytest tests/ -v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651760"/>
            <a:ext cx="98755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birim ve entegrasyon testi — gerçek IMDb verisine ihtiyaç duymadan çalışır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graph_utils.py fonksiyonları, NetworkX'in bilinen "karate club" veri setiyle de doğrulanır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BIL403_donem_projesi.ipynb — tüm analizleri tek bir çalıştırılabilir notebook'ta birleştirir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Oyuncu İşbirliği Ağı — Graf Teorisi Projesi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D4A24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tr-TR" sz="18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 ve Kısıtlamalar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Bulgular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87452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güçlü bir küçük-dünya yapısına sahip (σ=9,74)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sayıda merkezi oyuncu aynı zamanda ağın kesme noktaları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Ağ, hedefli saldırılara karşı belirgin biçimde kırılgan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türü, oyuncu işbirliği örüntüsünü de etkiliyor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0" y="1371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Kısıtlamalar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87452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Örneklem rastgele; farklı ülke sinema endüstrileri ağı parçalıyor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Statik bir zaman kesiti — zamansal gelişim incelenmedi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ortak-komşu link prediction, gömme tabanlı yöntemler kadar güçlü değil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Oyuncu İşbirliği Ağı — Graf Teorisi Projesi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08032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932238" y="349025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Kod: github.com/Metekilic0/bil403-graph-teory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885</Words>
  <Application>Microsoft Office PowerPoint</Application>
  <PresentationFormat>Özel</PresentationFormat>
  <Paragraphs>159</Paragraphs>
  <Slides>14</Slides>
  <Notes>14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Mete Kılıç</cp:lastModifiedBy>
  <cp:revision>8</cp:revision>
  <dcterms:created xsi:type="dcterms:W3CDTF">2026-07-09T19:39:09Z</dcterms:created>
  <dcterms:modified xsi:type="dcterms:W3CDTF">2026-07-11T00:38:29Z</dcterms:modified>
</cp:coreProperties>
</file>